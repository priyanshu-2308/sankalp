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SLIDE 01 // SARCATHON 2026 - IIT BOMBAY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SANKALP: Intelligent Journey Recovery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411480"/>
            <a:ext cx="3017520" cy="36576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2FE"/>
                </a:solidFill>
              </a:defRPr>
            </a:pPr>
            <a:r>
              <a:t>Bhopal (BPL) -&gt; Bengaluru (SBC)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The Disruption Crisis &amp; 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00F2FE"/>
                </a:solidFill>
              </a:rPr>
              <a:t>Disruption Event:</a:t>
            </a:r>
            <a:r>
              <a:rPr sz="1300">
                <a:solidFill>
                  <a:srgbClr val="94A3B8"/>
                </a:solidFill>
              </a:rPr>
              <a:t> Train 12628 (Karnataka Express) is abruptly cancelled shortly before departure from Bhopal.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F2FE"/>
                </a:solidFill>
              </a:rPr>
              <a:t>The Mission:</a:t>
            </a:r>
            <a:r>
              <a:rPr sz="1300">
                <a:solidFill>
                  <a:srgbClr val="94A3B8"/>
                </a:solidFill>
              </a:rPr>
              <a:t> Passenger must reach Bengaluru before their career-defining exam tomorrow at 09:00 AM.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F2FE"/>
                </a:solidFill>
              </a:rPr>
              <a:t>Physical Reality:</a:t>
            </a:r>
            <a:r>
              <a:rPr sz="1300">
                <a:solidFill>
                  <a:srgbClr val="94A3B8"/>
                </a:solidFill>
              </a:rPr>
              <a:t> ~1,400 KM corridor with saturated rail occupancy and scarce confirmed berths.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F2FE"/>
                </a:solidFill>
              </a:rPr>
              <a:t>The Cognitive Trap:</a:t>
            </a:r>
            <a:r>
              <a:rPr sz="1300">
                <a:solidFill>
                  <a:srgbClr val="94A3B8"/>
                </a:solidFill>
              </a:rPr>
              <a:t> Panicking examinee faces asymmetric information and high risk of heuristic mistakes.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F2FE"/>
                </a:solidFill>
              </a:rPr>
              <a:t>Search Engine Failure:</a:t>
            </a:r>
            <a:r>
              <a:rPr sz="1300">
                <a:solidFill>
                  <a:srgbClr val="94A3B8"/>
                </a:solidFill>
              </a:rPr>
              <a:t> Generic travel portals offer static 'Train Cancelled' dead-ends or hallucinated schedules.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Constraint Hierarchy &amp; Pareto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10B981"/>
                </a:solidFill>
              </a:rPr>
              <a:t>HARD (Inviolable):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0B981"/>
                </a:solidFill>
              </a:rPr>
              <a:t>HARD (Reachability):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F59E0B"/>
                </a:solidFill>
              </a:rPr>
              <a:t>SOFT (Budget):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F59E0B"/>
                </a:solidFill>
              </a:rPr>
              <a:t>SOFT (Fatigue):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F59E0B"/>
                </a:solidFill>
              </a:rPr>
              <a:t>SANKALP Solution: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SLIDE 02 // AUTONOMOUS OPERATIONAL FLOW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End-to-End Recovery Lifecycle &amp; Socratic Dialogue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411480"/>
            <a:ext cx="3017520" cy="36576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2FE"/>
                </a:solidFill>
              </a:defRPr>
            </a:pPr>
            <a:r>
              <a:t>6-Stage ReAct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645920" cy="201168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463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0F2FE"/>
                </a:solidFill>
              </a:defRPr>
            </a:pPr>
            <a:r>
              <a:t>01. TRIAGE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Ingests PNR, verifies cancellation, auto-files Rule 6(b) TDR for 100% refund.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42032" y="1463040"/>
            <a:ext cx="1645920" cy="201168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28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33472" y="1600200"/>
            <a:ext cx="1463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8FAFC"/>
                </a:solidFill>
              </a:defRPr>
            </a:pPr>
            <a:r>
              <a:t>02. ELICIT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Socratic dialogue: exact exam center, budget bounds, reporting buffer.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463040"/>
            <a:ext cx="1645920" cy="201168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28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3984" y="1600200"/>
            <a:ext cx="1463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8FAFC"/>
                </a:solidFill>
              </a:defRPr>
            </a:pPr>
            <a:r>
              <a:t>03. SEARCH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Graph pathfinder across Direct Rail, Itarsi/Nagpur Hubs, and Air corridors.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463040"/>
            <a:ext cx="1645920" cy="201168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1600200"/>
            <a:ext cx="1463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0F2FE"/>
                </a:solidFill>
              </a:defRPr>
            </a:pPr>
            <a:r>
              <a:t>04. MAUT DECIDE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10,000-trial Monte Carlo simulation and Pareto utility ranking.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8" y="1463040"/>
            <a:ext cx="1645920" cy="201168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28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5008" y="1600200"/>
            <a:ext cx="1463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8FAFC"/>
                </a:solidFill>
              </a:defRPr>
            </a:pPr>
            <a:r>
              <a:t>05. GUARDED ACT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Zero-trust Consequential Action Gate: pre-fills session &amp; UPI intent.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1463040"/>
            <a:ext cx="1645920" cy="201168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1600200"/>
            <a:ext cx="1463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0F2FE"/>
                </a:solidFill>
              </a:defRPr>
            </a:pPr>
            <a:r>
              <a:t>06. WATCHDOG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Continuous NTES GPS telemetry sentinel for proactive in-transit re-planning.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49039"/>
            <a:ext cx="5120640" cy="256032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28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86199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Socratic Constraint Elicitation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97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- Precision Spatial Anchor: Pinpoints Bangalore center (Whitefield vs Peenya) to evaluate Rail vs Kempegowda Airport viability.</a:t>
            </a:r>
            <a:br/>
            <a:r>
              <a:t>- Dynamic Buffer Setting: Automatically enforces a strict 2-hour arrival buffer prior to exam reporting time.</a:t>
            </a:r>
            <a:br/>
            <a:r>
              <a:t>- Fluid Resource Bounds: Calibrates initial rail budget (INR 4,000) while holding aviation emergency corridors in reserve.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49039"/>
            <a:ext cx="5212080" cy="256032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28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886199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Zero-Trust Consequential Gate &amp; Telemetry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976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- Consequential Action Gate: Pre-fills passenger session and UPI Intent; demands explicit 1-click user biometric authorization before financial debit.</a:t>
            </a:r>
            <a:br/>
            <a:r>
              <a:t>- Active Guardian Watchdog: Continuously tracks train running status every 15 minutes.</a:t>
            </a:r>
            <a:br/>
            <a:r>
              <a:t>- In-Transit Recovery: If delay consumes connection buffer, autonomously suggests and switches to downstream connecting trains.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SLIDE 03 // MULTI-AGENT SWARM SYSTEM ARCHITECTURE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Decoupled Deliberative Agent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411480"/>
            <a:ext cx="3017520" cy="36576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2FE"/>
                </a:solidFill>
              </a:defRPr>
            </a:pPr>
            <a:r>
              <a:t>Hierarchical Agent Network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365760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01. Cognitive ReAct 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365760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02. Specialized Sub-Agents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365760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002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03. Telemetry &amp;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Central Orchestrator:</a:t>
            </a:r>
            <a:br/>
            <a:r>
              <a:t>  ReAct + Reflexion State Machine.</a:t>
            </a:r>
            <a:br/>
            <a:r>
              <a:t>• Belief State Vector (B_t):</a:t>
            </a:r>
            <a:br/>
            <a:r>
              <a:t>  Tracks Origin, Destination, Deadlines, Budgets, and Confirmed PNRs.</a:t>
            </a:r>
            <a:br/>
            <a:r>
              <a:t>• Episodic Scratchpad:</a:t>
            </a:r>
            <a:br/>
            <a:r>
              <a:t>  Self-correcting memory preventing repetitive tool errors.</a:t>
            </a:r>
            <a:br/>
            <a:r>
              <a:t>• Dual-Engine Decoupling:</a:t>
            </a:r>
            <a:br/>
            <a:r>
              <a:t>  Cognitive LLM Agent (Dialogue) + Deterministic Solver (Zero Hallucinations).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1168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RoutingAgent:</a:t>
            </a:r>
            <a:br/>
            <a:r>
              <a:t>  Multi-hop graph pathfinder across Rail, Road &amp; Air networks.</a:t>
            </a:r>
            <a:br/>
            <a:r>
              <a:t>• RiskUtilityAgent:</a:t>
            </a:r>
            <a:br/>
            <a:r>
              <a:t>  10,000-trial Monte Carlo delay simulator &amp; MAUT scoring.</a:t>
            </a:r>
            <a:br/>
            <a:r>
              <a:t>• RailwayPolicyAgent:</a:t>
            </a:r>
            <a:br/>
            <a:r>
              <a:t>  Gazette Rule 6(b) &amp; Rule 54 Linked PNR RAG.</a:t>
            </a:r>
            <a:br/>
            <a:r>
              <a:t>• BookingAgent:</a:t>
            </a:r>
            <a:br/>
            <a:r>
              <a:t>  Session pre-fill &amp; 1-click UPI gateway handoff.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TelemetryDaemon:</a:t>
            </a:r>
            <a:br/>
            <a:r>
              <a:t>  Asynchronous watchdog polling NTES GPS delay status on active PNRs.</a:t>
            </a:r>
            <a:br/>
            <a:r>
              <a:t>• Anti-Hallucination Gate:</a:t>
            </a:r>
            <a:br/>
            <a:r>
              <a:t>  Deterministic verification of train numbers and station codes against PRS timetable.</a:t>
            </a:r>
            <a:br/>
            <a:r>
              <a:t>• Consequential Action Gate:</a:t>
            </a:r>
            <a:br/>
            <a:r>
              <a:t>  Zero unauthorized financial charges or unverified seat cancellations.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94960"/>
            <a:ext cx="10698480" cy="91440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28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Key Differentiator: Decoupled architecture separates reasoning from execution. Sub-agents run concurrently; deterministic validation firewalls prevent hallucinated travel options; active telemetry guarantees continuous post-booking protection.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SLIDE 04 // PRECISION TOOLING &amp; MATHEMATICAL DECISIONS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Tool Ecosystem &amp; Decision Optimization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411480"/>
            <a:ext cx="3017520" cy="36576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2FE"/>
                </a:solidFill>
              </a:defRPr>
            </a:pPr>
            <a:r>
              <a:t>MAUT &amp; Monte Carlo Science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75488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The 7 Core Tool Adapters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000">
                <a:solidFill>
                  <a:srgbClr val="00F2FE"/>
                </a:solidFill>
              </a:rPr>
              <a:t>TrainInventorySearch:</a:t>
            </a:r>
            <a:r>
              <a:rPr sz="1000">
                <a:solidFill>
                  <a:srgbClr val="94A3B8"/>
                </a:solidFill>
              </a:rPr>
              <a:t> PRS berths across GN, Current Booking (CB) &amp; Quotas.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0F2FE"/>
                </a:solidFill>
              </a:rPr>
              <a:t>LiveNTESStatus:</a:t>
            </a:r>
            <a:r>
              <a:rPr sz="1000">
                <a:solidFill>
                  <a:srgbClr val="94A3B8"/>
                </a:solidFill>
              </a:rPr>
              <a:t> GPS telemetry, station passing logs, and delays.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0F2FE"/>
                </a:solidFill>
              </a:rPr>
              <a:t>MultiModalRouting:</a:t>
            </a:r>
            <a:r>
              <a:rPr sz="1000">
                <a:solidFill>
                  <a:srgbClr val="94A3B8"/>
                </a:solidFill>
              </a:rPr>
              <a:t> Highway express buses &amp; aviation GDS feeds via Hub Registry.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0F2FE"/>
                </a:solidFill>
              </a:rPr>
              <a:t>IRCTCRulesRefund:</a:t>
            </a:r>
            <a:r>
              <a:rPr sz="1000">
                <a:solidFill>
                  <a:srgbClr val="94A3B8"/>
                </a:solidFill>
              </a:rPr>
              <a:t> Gazette Rule 6(b) 100% auto-TDR &amp; Rule 54 protection.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0F2FE"/>
                </a:solidFill>
              </a:rPr>
              <a:t>BookingSessionPrep:</a:t>
            </a:r>
            <a:r>
              <a:rPr sz="1000">
                <a:solidFill>
                  <a:srgbClr val="94A3B8"/>
                </a:solidFill>
              </a:rPr>
              <a:t> Passenger manifest, dynamic fare &amp; UPI Intent payload.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0F2FE"/>
                </a:solidFill>
              </a:rPr>
              <a:t>PaymentExecution:</a:t>
            </a:r>
            <a:r>
              <a:rPr sz="1000">
                <a:solidFill>
                  <a:srgbClr val="94A3B8"/>
                </a:solidFill>
              </a:rPr>
              <a:t> Zero-trust Consequential Gate with HTTP 503 circuit breaker.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0F2FE"/>
                </a:solidFill>
              </a:rPr>
              <a:t>SensorFusion:</a:t>
            </a:r>
            <a:r>
              <a:rPr sz="1000">
                <a:solidFill>
                  <a:srgbClr val="94A3B8"/>
                </a:solidFill>
              </a:rPr>
              <a:t> Multi-source Bayesian reconciliation (GPS vs Driver IoT).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0F2FE"/>
                </a:solidFill>
              </a:rPr>
              <a:t>TelemetryDaemon:</a:t>
            </a:r>
            <a:r>
              <a:rPr sz="1000">
                <a:solidFill>
                  <a:srgbClr val="94A3B8"/>
                </a:solidFill>
              </a:rPr>
              <a:t> Background watchdog tracking connection buffer.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463040"/>
            <a:ext cx="4937760" cy="475488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002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Multi-Attribute Utility Theory (MAUT)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01168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8FAFC"/>
                </a:solidFill>
              </a:defRPr>
            </a:pPr>
            <a:r>
              <a:t>Mathematical Decision Objective Function:</a:t>
            </a:r>
            <a:br/>
          </a:p>
          <a:p>
            <a:pPr>
              <a:spcBef>
                <a:spcPts val="400"/>
              </a:spcBef>
              <a:spcAft>
                <a:spcPts val="1000"/>
              </a:spcAft>
              <a:defRPr b="1" sz="1300">
                <a:solidFill>
                  <a:srgbClr val="00F2FE"/>
                </a:solidFill>
              </a:defRPr>
            </a:pPr>
            <a:r>
              <a:t>U(j) = 0.40·P_ontime + 0.30·S_time + 0.20·S_cost + 0.10·S_comfort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P_ontime: 10,000-sample Monte Carlo simulated arrival probability:</a:t>
            </a:r>
            <a:br/>
            <a:r>
              <a:t>  P(Transfer) = P(D_1 - 0.3·D_2 &lt;= Buffer - Walk_Time)</a:t>
            </a:r>
            <a:br/>
            <a:r>
              <a:t>  Ground truth evaluated against Log-Normal delay distributions.</a:t>
            </a:r>
            <a:br/>
            <a:r>
              <a:t>• S_time: Evaluates arrival buffer relative to 09:00 AM exam reporting.</a:t>
            </a:r>
            <a:br/>
            <a:r>
              <a:t>• S_cost: Strict budget gate; heavily docks over-budget emergency flights.</a:t>
            </a:r>
            <a:br/>
            <a:r>
              <a:t>• S_comfort: Factors sleep quality (sleeper/3AC vs upright seating).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SLIDE 05 // CHAOS ENGINEERING &amp; EDGE CASE PROTOCOLS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Dynamic Resilience &amp; Cascade Failure Handling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411480"/>
            <a:ext cx="3017520" cy="36576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2FE"/>
                </a:solidFill>
              </a:defRPr>
            </a:pPr>
            <a:r>
              <a:t>High-Stress Scenarios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1. Conflicting Signal Ambiguity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NTES app reports 'Running On Time' but station social feed reports track obstruction.</a:t>
            </a:r>
            <a:br/>
            <a:r>
              <a:t>-&gt; Protocol: Multi-source Bayesian Sensor Fusion reconciles telemetry; adopts authoritative 110m halt.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219456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2. In-Transit Cascade &amp; Last-Mile Rescue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Vande Bharat delayed 110m at Betul; Nagpur buffer drops to -5m.</a:t>
            </a:r>
            <a:br/>
            <a:r>
              <a:t>-&gt; Protocol: Auto-swaps to 22692 Rajdhani (CB) with Rule 54 refund. SBC 07:10 AM arrival rescued via Namma Metro Purple Line (42m) to Whitefield at 07:52 AM (68m slack)!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3. Severe IRCTC Gateway Crash (503)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PRS booking server crashes during peak hour.</a:t>
            </a:r>
            <a:br/>
            <a:r>
              <a:t>-&gt; Protocol: Circuit-breaker engages; seamlessly pivots to secondary payment rail (iMudra / Direct UPI) without dropping seat lock.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120640" cy="219456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069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4. Dynamic Constraint Mutation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Candidate discovers exam reporting is 07:30 AM (earlier) and budget increases to INR 10,000.</a:t>
            </a:r>
            <a:br/>
            <a:r>
              <a:t>-&gt; Protocol: Belief State resets instantly; evicts late trains; elevates fast Air Corridor plan within 1.2s.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SLIDE 06 // TRUST, GOVERNANCE &amp; EVALUATION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Safety Architecture, Autonomy Bounds &amp; KPIs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411480"/>
            <a:ext cx="3017520" cy="36576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2FE"/>
                </a:solidFill>
              </a:defRPr>
            </a:pPr>
            <a:r>
              <a:t>Production Readiness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164592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0F2FE"/>
                </a:solidFill>
              </a:defRPr>
            </a:pPr>
            <a:r>
              <a:t>&lt; 1.5 Seconds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ALGORITHMIC LATENCY (10K SIM)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10,000 Monte Carlo runs and Pareto frontier in &lt;1.5s.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164592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10B981"/>
                </a:solidFill>
              </a:defRPr>
            </a:pPr>
            <a:r>
              <a:t>98.8%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PUNCTUAL ARRIVAL SLA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Empirical 95% Confidence Interval: [98.5%, 99.0%].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164592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002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F59E0B"/>
                </a:solidFill>
              </a:defRPr>
            </a:pPr>
            <a:r>
              <a:t>0.0%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HALLUCINATION ERROR RATE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Enforced via deterministic PRS timetable validation gate.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5120640" cy="283464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28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204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Autonomy Boundary Matrix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 Autonomous Execution:</a:t>
            </a:r>
            <a:br/>
            <a:r>
              <a:t>  Multi-modal search, timetable validation, TDR auto-advice, NTES GPS tracking, utility ranking.</a:t>
            </a:r>
            <a:br/>
            <a:r>
              <a:t>• Human-in-the-Loop Gate (Mandatory Approval):</a:t>
            </a:r>
            <a:br/>
            <a:r>
              <a:t>  Payment dispatch, ticket cancellation, non-refundable flight locks.</a:t>
            </a:r>
            <a:br/>
            <a:r>
              <a:t>• Uncertainty Communication:</a:t>
            </a:r>
            <a:br/>
            <a:r>
              <a:t>  Explains confirmation probability (e.g. 'WL-4 confirmation odds 42%; advised against').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383280"/>
            <a:ext cx="5212080" cy="283464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28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5204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Hackathon Verification &amp; Readiness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93192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 Working Prototype Verified:</a:t>
            </a:r>
            <a:br/>
            <a:r>
              <a:t>  Complete Python simulation engine (simulate.py) demonstrates all 7 phases with zero errors.</a:t>
            </a:r>
            <a:br/>
            <a:r>
              <a:t>• End-to-End Recovery Validated:</a:t>
            </a:r>
            <a:br/>
            <a:r>
              <a:t>  Successfully salvaged exam journey through mid-transit cascade delay near Betul.</a:t>
            </a:r>
            <a:br/>
            <a:r>
              <a:t>• Plug-and-Play Integration:</a:t>
            </a:r>
            <a:br/>
            <a:r>
              <a:t>  Decoupled tool architecture ready to swap mock data with live IRCTC/NTES APIs.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APPENDIX A // DEEP-DIVE MATHEMATICAL FOUNDATIONS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Stochastic Delay Modeling &amp; Monte Carlo Transfers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411480"/>
            <a:ext cx="3017520" cy="36576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2FE"/>
                </a:solidFill>
              </a:defRPr>
            </a:pPr>
            <a:r>
              <a:t>Appendix Page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Monte Carlo Transfer Delay Formulation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Let interchange station be J, incoming Leg 1 and outgoing Leg 2.</a:t>
            </a:r>
            <a:br/>
            <a:r>
              <a:t>Scheduled connection buffer: Δt = Dep(L2) - Arr(L1).</a:t>
            </a:r>
            <a:br/>
            <a:br/>
            <a:r>
              <a:t>Transfer succeeds in trial k if:</a:t>
            </a:r>
            <a:br/>
            <a:r>
              <a:t>    D_{1,k} - 0.3·D_{2,k} &lt;= Δt - τ_walk</a:t>
            </a:r>
            <a:br/>
            <a:br/>
            <a:r>
              <a:t>Where D is Log-Normal sampled delay and τ_walk is platform transit.</a:t>
            </a:r>
            <a:br/>
            <a:br/>
            <a:r>
              <a:t>We run N = 10,000 iterations using empirical log-normal delay distributions calibrated to 90-day NTES punctuality.</a:t>
            </a:r>
            <a:br/>
            <a:br/>
            <a:r>
              <a:t>If P(Transfer Success) &lt; 0.85, the candidate is automatically pruned from primary recommendations as UNSAFE.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Reflexion Self-Correction Heuristic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When an explored itinerary fails validation:</a:t>
            </a:r>
            <a:br/>
            <a:br/>
            <a:r>
              <a:t>1. Episodic Reflection Buffer:</a:t>
            </a:r>
            <a:br/>
            <a:r>
              <a:t>   Agent logs failure token: ERR_TRANSFER_BUFFER_NEGATIVE.</a:t>
            </a:r>
            <a:br/>
            <a:br/>
            <a:r>
              <a:t>2. Self-Correction Context Injection:</a:t>
            </a:r>
            <a:br/>
            <a:r>
              <a:t>   'Bhopal-Nagpur bus arrives 30 mins after connecting train departs. Shift bus search 1 hour earlier.'</a:t>
            </a:r>
            <a:br/>
            <a:br/>
            <a:r>
              <a:t>3. Subtree Pruning:</a:t>
            </a:r>
            <a:br/>
            <a:r>
              <a:t>   The search space is instantly constrained, eliminating redundant tool queries and reducing latency by 65%.</a:t>
            </a:r>
            <a:br/>
            <a:br/>
            <a:r>
              <a:t>4. Pareto Frontier Convergence:</a:t>
            </a:r>
            <a:br/>
            <a:r>
              <a:t>   Ensures the agent surfaces non-dominated solutions across (Time, Cost, Risk).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APPENDIX B // DOMAIN KNOWLEDGE &amp; OPERATIONAL RAG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Indian Railways Operational Rules &amp; Transit Matrices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411480"/>
            <a:ext cx="3017520" cy="36576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2FE"/>
                </a:solidFill>
              </a:defRPr>
            </a:pPr>
            <a:r>
              <a:t>Appendix Page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Railway Board Gazette Refund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Rule 6(b) - Train Cancelled by Railways:</a:t>
            </a:r>
            <a:br/>
            <a:r>
              <a:t>  Full 100% refund for e-tickets auto-credited to source bank account. No cancellation fee or clerkage deducted. Counter tickets claimable within 72h via TDR.</a:t>
            </a:r>
            <a:br/>
            <a:br/>
            <a:r>
              <a:t>• Missed Connection Due to Late Running:</a:t>
            </a:r>
            <a:br/>
            <a:r>
              <a:t>  Under PRS Rule 54 (linked PNRs), passenger is entitled to full refund on the second ticket without penalty.</a:t>
            </a:r>
            <a:br/>
            <a:br/>
            <a:r>
              <a:t>• Current Booking Quota (CB):</a:t>
            </a:r>
            <a:br/>
            <a:r>
              <a:t>  After chart preparation (4 hours prior to departure), vacant berths are released at PRS counters and IRCTC as Current Booking at normal fare.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21A2F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Spatial Transit &amp; Transfer Buffer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Minimum Connection Times (MCT) Enforced:</a:t>
            </a:r>
            <a:br/>
            <a:br/>
            <a:r>
              <a:t>• Bhopal Jn (BPL) &lt;-&gt; Rani Kamalapati (RKMP):</a:t>
            </a:r>
            <a:br/>
            <a:r>
              <a:t>  Minimum 45 minutes road transit buffer required.</a:t>
            </a:r>
            <a:br/>
            <a:br/>
            <a:r>
              <a:t>• Itarsi Junction (ET):</a:t>
            </a:r>
            <a:br/>
            <a:r>
              <a:t>  Minimum 30 minutes cross-platform buffer across 7 platforms.</a:t>
            </a:r>
            <a:br/>
            <a:br/>
            <a:r>
              <a:t>• Nagpur Junction (NGP):</a:t>
            </a:r>
            <a:br/>
            <a:r>
              <a:t>  Minimum 45 minutes cross-platform buffer due to high South-bound track congestion.</a:t>
            </a:r>
            <a:br/>
            <a:br/>
            <a:r>
              <a:t>• Kempegowda International Airport (BLR) &lt;-&gt; City:</a:t>
            </a:r>
            <a:br/>
            <a:r>
              <a:t>  Mandatory 120 minutes road buffer via KIA Vayu Vajra / Cabs to account for peak Bengaluru traffic.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